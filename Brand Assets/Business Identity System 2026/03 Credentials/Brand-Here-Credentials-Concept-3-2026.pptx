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f695449b694182" /><Relationship Type="http://schemas.openxmlformats.org/officeDocument/2006/relationships/extended-properties" Target="/docProps/app.xml" Id="Rba98a8ae4d8e4f48" /><Relationship Type="http://schemas.openxmlformats.org/officeDocument/2006/relationships/officeDocument" Target="/ppt/presentation.xml" Id="Rd2f8b3e5b529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24f8bd60344394"/>
  </p:sldMasterIdLst>
  <p:notesMasterIdLst>
    <p:notesMasterId xmlns:r="http://schemas.openxmlformats.org/officeDocument/2006/relationships" r:id="R468102e837d14132"/>
  </p:notesMasterIdLst>
  <p:sldIdLst>
    <p:sldId xmlns:r="http://schemas.openxmlformats.org/officeDocument/2006/relationships" id="256" r:id="Ra7945468cf394e35"/>
    <p:sldId xmlns:r="http://schemas.openxmlformats.org/officeDocument/2006/relationships" id="257" r:id="R3441eb032fc64341"/>
    <p:sldId xmlns:r="http://schemas.openxmlformats.org/officeDocument/2006/relationships" id="258" r:id="Raf3f0e2af77648da"/>
    <p:sldId xmlns:r="http://schemas.openxmlformats.org/officeDocument/2006/relationships" id="259" r:id="R623a58f79bd54397"/>
    <p:sldId xmlns:r="http://schemas.openxmlformats.org/officeDocument/2006/relationships" id="260" r:id="Rcb6327ab7a2a4bc0"/>
    <p:sldId xmlns:r="http://schemas.openxmlformats.org/officeDocument/2006/relationships" id="261" r:id="Rcfef7dcef7d64097"/>
    <p:sldId xmlns:r="http://schemas.openxmlformats.org/officeDocument/2006/relationships" id="262" r:id="Rae73c773281b4b1a"/>
    <p:sldId xmlns:r="http://schemas.openxmlformats.org/officeDocument/2006/relationships" id="263" r:id="R8e90407cd51c408a"/>
    <p:sldId xmlns:r="http://schemas.openxmlformats.org/officeDocument/2006/relationships" id="264" r:id="R99c07f6f0f6742d8"/>
    <p:sldId xmlns:r="http://schemas.openxmlformats.org/officeDocument/2006/relationships" id="265" r:id="Re12f2f39f7574117"/>
    <p:sldId xmlns:r="http://schemas.openxmlformats.org/officeDocument/2006/relationships" id="266" r:id="R0561af8c530e4f77"/>
    <p:sldId xmlns:r="http://schemas.openxmlformats.org/officeDocument/2006/relationships" id="267" r:id="R6d5ab5d4ee944f50"/>
    <p:sldId xmlns:r="http://schemas.openxmlformats.org/officeDocument/2006/relationships" id="268" r:id="R8b71d61077074640"/>
    <p:sldId xmlns:r="http://schemas.openxmlformats.org/officeDocument/2006/relationships" id="269" r:id="Rb77f9001d3b94682"/>
    <p:sldId xmlns:r="http://schemas.openxmlformats.org/officeDocument/2006/relationships" id="270" r:id="R126bfd16449a42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2c9926f344627" /><Relationship Type="http://schemas.openxmlformats.org/officeDocument/2006/relationships/slideMaster" Target="/ppt/slideMasters/slideMaster1.xml" Id="R6c24f8bd60344394" /><Relationship Type="http://schemas.openxmlformats.org/officeDocument/2006/relationships/notesMaster" Target="/ppt/notesMasters/notesMaster1.xml" Id="R468102e837d14132" /><Relationship Type="http://schemas.openxmlformats.org/officeDocument/2006/relationships/presProps" Target="/ppt/presProps.xml" Id="Rc57bf9c3aa384111" /><Relationship Type="http://schemas.openxmlformats.org/officeDocument/2006/relationships/tableStyles" Target="/ppt/tableStyles.xml" Id="R45428c8deb6d4b17" /><Relationship Type="http://schemas.openxmlformats.org/officeDocument/2006/relationships/slide" Target="/ppt/slides/slide1.xml" Id="Ra7945468cf394e35" /><Relationship Type="http://schemas.openxmlformats.org/officeDocument/2006/relationships/slide" Target="/ppt/slides/slide2.xml" Id="R3441eb032fc64341" /><Relationship Type="http://schemas.openxmlformats.org/officeDocument/2006/relationships/slide" Target="/ppt/slides/slide3.xml" Id="Raf3f0e2af77648da" /><Relationship Type="http://schemas.openxmlformats.org/officeDocument/2006/relationships/slide" Target="/ppt/slides/slide4.xml" Id="R623a58f79bd54397" /><Relationship Type="http://schemas.openxmlformats.org/officeDocument/2006/relationships/slide" Target="/ppt/slides/slide5.xml" Id="Rcb6327ab7a2a4bc0" /><Relationship Type="http://schemas.openxmlformats.org/officeDocument/2006/relationships/slide" Target="/ppt/slides/slide6.xml" Id="Rcfef7dcef7d64097" /><Relationship Type="http://schemas.openxmlformats.org/officeDocument/2006/relationships/slide" Target="/ppt/slides/slide7.xml" Id="Rae73c773281b4b1a" /><Relationship Type="http://schemas.openxmlformats.org/officeDocument/2006/relationships/slide" Target="/ppt/slides/slide8.xml" Id="R8e90407cd51c408a" /><Relationship Type="http://schemas.openxmlformats.org/officeDocument/2006/relationships/slide" Target="/ppt/slides/slide9.xml" Id="R99c07f6f0f6742d8" /><Relationship Type="http://schemas.openxmlformats.org/officeDocument/2006/relationships/slide" Target="/ppt/slides/slide10.xml" Id="Re12f2f39f7574117" /><Relationship Type="http://schemas.openxmlformats.org/officeDocument/2006/relationships/slide" Target="/ppt/slides/slide11.xml" Id="R0561af8c530e4f77" /><Relationship Type="http://schemas.openxmlformats.org/officeDocument/2006/relationships/slide" Target="/ppt/slides/slide12.xml" Id="R6d5ab5d4ee944f50" /><Relationship Type="http://schemas.openxmlformats.org/officeDocument/2006/relationships/slide" Target="/ppt/slides/slide13.xml" Id="R8b71d61077074640" /><Relationship Type="http://schemas.openxmlformats.org/officeDocument/2006/relationships/slide" Target="/ppt/slides/slide14.xml" Id="Rb77f9001d3b94682" /><Relationship Type="http://schemas.openxmlformats.org/officeDocument/2006/relationships/slide" Target="/ppt/slides/slide15.xml" Id="R126bfd16449a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6cccd8b41143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8251cd43e4f15" /><Relationship Type="http://schemas.openxmlformats.org/officeDocument/2006/relationships/notesMaster" Target="/ppt/notesMasters/notesMaster1.xml" Id="Rcbf825b90ef840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a58e0586b4902" /><Relationship Type="http://schemas.openxmlformats.org/officeDocument/2006/relationships/notesMaster" Target="/ppt/notesMasters/notesMaster1.xml" Id="R22e055c6074149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471eede344a15" /><Relationship Type="http://schemas.openxmlformats.org/officeDocument/2006/relationships/notesMaster" Target="/ppt/notesMasters/notesMaster1.xml" Id="R4fe9d49ad17845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a04f736a6f4a07" /><Relationship Type="http://schemas.openxmlformats.org/officeDocument/2006/relationships/notesMaster" Target="/ppt/notesMasters/notesMaster1.xml" Id="R83728ab92a3e45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e5d27982a84ab8" /><Relationship Type="http://schemas.openxmlformats.org/officeDocument/2006/relationships/notesMaster" Target="/ppt/notesMasters/notesMaster1.xml" Id="R2d18a5a129ef4f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b1d8e5a8d141aa" /><Relationship Type="http://schemas.openxmlformats.org/officeDocument/2006/relationships/notesMaster" Target="/ppt/notesMasters/notesMaster1.xml" Id="Reee203bf13544b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a63a3eea6f420f" /><Relationship Type="http://schemas.openxmlformats.org/officeDocument/2006/relationships/notesMaster" Target="/ppt/notesMasters/notesMaster1.xml" Id="Rcc61f9ef54f44d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d3f5a51254c93" /><Relationship Type="http://schemas.openxmlformats.org/officeDocument/2006/relationships/notesMaster" Target="/ppt/notesMasters/notesMaster1.xml" Id="Rca0496b9adaa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52cc978057490e" /><Relationship Type="http://schemas.openxmlformats.org/officeDocument/2006/relationships/notesMaster" Target="/ppt/notesMasters/notesMaster1.xml" Id="Rfa2510ff5778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ad9485e8f54aa5" /><Relationship Type="http://schemas.openxmlformats.org/officeDocument/2006/relationships/notesMaster" Target="/ppt/notesMasters/notesMaster1.xml" Id="R493d7a8479ff46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4aa28e1b3a4959" /><Relationship Type="http://schemas.openxmlformats.org/officeDocument/2006/relationships/notesMaster" Target="/ppt/notesMasters/notesMaster1.xml" Id="R84eebb5eafc949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b4f6a5a2bb4545" /><Relationship Type="http://schemas.openxmlformats.org/officeDocument/2006/relationships/notesMaster" Target="/ppt/notesMasters/notesMaster1.xml" Id="R132189b3548240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6ba628c3554a27" /><Relationship Type="http://schemas.openxmlformats.org/officeDocument/2006/relationships/notesMaster" Target="/ppt/notesMasters/notesMaster1.xml" Id="R2f09d7b04cd943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5cc9ef324f4c8d" /><Relationship Type="http://schemas.openxmlformats.org/officeDocument/2006/relationships/notesMaster" Target="/ppt/notesMasters/notesMaster1.xml" Id="Rfaf06874496349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5bc8c395544ee2" /><Relationship Type="http://schemas.openxmlformats.org/officeDocument/2006/relationships/notesMaster" Target="/ppt/notesMasters/notesMaster1.xml" Id="R9224f9d543a4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</a:t>
            </a:r>
          </a:p>
          <a:p xmlns:a="http://schemas.openxmlformats.org/drawingml/2006/main">
            <a:r>
              <a:t>- Brand Here owned image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</a:t>
            </a:r>
          </a:p>
          <a:p xmlns:a="http://schemas.openxmlformats.org/drawingml/2006/main">
            <a:r>
              <a:t>- https://brandhere.co/about.html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https://brandhere.co/about.html</a:t>
            </a:r>
          </a:p>
          <a:p xmlns:a="http://schemas.openxmlformats.org/drawingml/2006/main">
            <a:r>
              <a:t>- Brand Here owned portrait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https://brandhere.co/what-we-do.html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https://brandhere.co/what-we-do.html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https://brandhere.co/what-we-do.html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https://brandhere.co/what-we-do.html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https://brandhere.co/what-we-do.html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https://brandhere.co/partners.html</a:t>
            </a:r>
          </a:p>
          <a:p xmlns:a="http://schemas.openxmlformats.org/drawingml/2006/main">
            <a:r>
              <a:t>- https://brandhere.co/experts.html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https://brandhere.co/experts.html</a:t>
            </a:r>
          </a:p>
          <a:p xmlns:a="http://schemas.openxmlformats.org/drawingml/2006/main">
            <a:r>
              <a:t>- Brand Here expert portraits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https://brandhere.co/work.html</a:t>
            </a:r>
          </a:p>
          <a:p xmlns:a="http://schemas.openxmlformats.org/drawingml/2006/main">
            <a:r>
              <a:t>- Brand Here owned case-study image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https://brandhere.co/work.html</a:t>
            </a:r>
          </a:p>
          <a:p xmlns:a="http://schemas.openxmlformats.org/drawingml/2006/main">
            <a:r>
              <a:t>- Brand Here owned case-study images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https://brandhere.co/partners.html</a:t>
            </a:r>
          </a:p>
          <a:p xmlns:a="http://schemas.openxmlformats.org/drawingml/2006/main">
            <a:r>
              <a:t>- https://www.nympheaaiagency.com/</a:t>
            </a:r>
          </a:p>
          <a:p xmlns:a="http://schemas.openxmlformats.org/drawingml/2006/main">
            <a:r>
              <a:t>- https://popcornmedia.vn/</a:t>
            </a:r>
          </a:p>
          <a:p xmlns:a="http://schemas.openxmlformats.org/drawingml/2006/main">
            <a:r>
              <a:t>- https://hypercricket.vn/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https://brandhere.co/contact.html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4f8a65df643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66f4f69e94903" /><Relationship Type="http://schemas.openxmlformats.org/officeDocument/2006/relationships/slideLayout" Target="/ppt/slideLayouts/slideLayout1.xml" Id="R6e0521efdce3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521efdce3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323bafd43446a" /><Relationship Type="http://schemas.openxmlformats.org/officeDocument/2006/relationships/image" Target="/ppt/media/image.jpeg" Id="R4b9f2f3d04fd4893" /><Relationship Type="http://schemas.openxmlformats.org/officeDocument/2006/relationships/image" Target="/ppt/media/image.png" Id="R27b66ff815994e6e" /><Relationship Type="http://schemas.openxmlformats.org/officeDocument/2006/relationships/notesSlide" Target="/ppt/notesSlides/notesSlide1.xml" Id="Ra73250e5f32b46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5b196cfe4a0b" /><Relationship Type="http://schemas.openxmlformats.org/officeDocument/2006/relationships/image" Target="/ppt/media/image2.png" Id="R73569fc51ea64c9e" /><Relationship Type="http://schemas.openxmlformats.org/officeDocument/2006/relationships/notesSlide" Target="/ppt/notesSlides/notesSlide2.xml" Id="R28ac43ffb852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c4721d9ec47c6" /><Relationship Type="http://schemas.openxmlformats.org/officeDocument/2006/relationships/image" Target="/ppt/media/image3.png" Id="R68ada3d98d884946" /><Relationship Type="http://schemas.openxmlformats.org/officeDocument/2006/relationships/notesSlide" Target="/ppt/notesSlides/notesSlide3.xml" Id="Rc4d80aa8a0c649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0f93b5ad44690" /><Relationship Type="http://schemas.openxmlformats.org/officeDocument/2006/relationships/image" Target="/ppt/media/image4.png" Id="Rb8eebc9358614344" /><Relationship Type="http://schemas.openxmlformats.org/officeDocument/2006/relationships/image" Target="/ppt/media/image5.png" Id="R78003ee0e2c04ced" /><Relationship Type="http://schemas.openxmlformats.org/officeDocument/2006/relationships/notesSlide" Target="/ppt/notesSlides/notesSlide4.xml" Id="R50b02365c10c4f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14ba515b14a7f" /><Relationship Type="http://schemas.openxmlformats.org/officeDocument/2006/relationships/image" Target="/ppt/media/image6.png" Id="R600106c720284a83" /><Relationship Type="http://schemas.openxmlformats.org/officeDocument/2006/relationships/notesSlide" Target="/ppt/notesSlides/notesSlide5.xml" Id="Rddf21d1f6b4c4c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e812354f64191" /><Relationship Type="http://schemas.openxmlformats.org/officeDocument/2006/relationships/image" Target="/ppt/media/image7.png" Id="R97789c1302e84e77" /><Relationship Type="http://schemas.openxmlformats.org/officeDocument/2006/relationships/notesSlide" Target="/ppt/notesSlides/notesSlide6.xml" Id="Rfe1df87743ca43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c641e3fcc4ae6" /><Relationship Type="http://schemas.openxmlformats.org/officeDocument/2006/relationships/image" Target="/ppt/media/image8.png" Id="R8b9b543912464a83" /><Relationship Type="http://schemas.openxmlformats.org/officeDocument/2006/relationships/notesSlide" Target="/ppt/notesSlides/notesSlide7.xml" Id="R4606057b5ef540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ee79246404670" /><Relationship Type="http://schemas.openxmlformats.org/officeDocument/2006/relationships/image" Target="/ppt/media/image9.png" Id="R9070e76e5f0149a8" /><Relationship Type="http://schemas.openxmlformats.org/officeDocument/2006/relationships/notesSlide" Target="/ppt/notesSlides/notesSlide8.xml" Id="R53ab844f978a4c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41631efc54b89" /><Relationship Type="http://schemas.openxmlformats.org/officeDocument/2006/relationships/image" Target="/ppt/media/image10.png" Id="R8542088fd9894344" /><Relationship Type="http://schemas.openxmlformats.org/officeDocument/2006/relationships/notesSlide" Target="/ppt/notesSlides/notesSlide9.xml" Id="R7fa4e8d10a8140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1a60337484eb9" /><Relationship Type="http://schemas.openxmlformats.org/officeDocument/2006/relationships/image" Target="/ppt/media/image11.png" Id="Re1697fcf5eb04666" /><Relationship Type="http://schemas.openxmlformats.org/officeDocument/2006/relationships/notesSlide" Target="/ppt/notesSlides/notesSlide10.xml" Id="R3d167ca887fe43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4136013ce4493" /><Relationship Type="http://schemas.openxmlformats.org/officeDocument/2006/relationships/image" Target="/ppt/media/image12.png" Id="R3a87752d6cc1495b" /><Relationship Type="http://schemas.openxmlformats.org/officeDocument/2006/relationships/image" Target="/ppt/media/image2.jpeg" Id="R184e12981b15437f" /><Relationship Type="http://schemas.openxmlformats.org/officeDocument/2006/relationships/image" Target="/ppt/media/image3.jpeg" Id="R89e04e8126254c17" /><Relationship Type="http://schemas.openxmlformats.org/officeDocument/2006/relationships/image" Target="/ppt/media/image4.jpeg" Id="R565e8cba78a54057" /><Relationship Type="http://schemas.openxmlformats.org/officeDocument/2006/relationships/image" Target="/ppt/media/image5.jpeg" Id="R52d66aaadbeb42e4" /><Relationship Type="http://schemas.openxmlformats.org/officeDocument/2006/relationships/image" Target="/ppt/media/image13.png" Id="R093c6103d42b4941" /><Relationship Type="http://schemas.openxmlformats.org/officeDocument/2006/relationships/notesSlide" Target="/ppt/notesSlides/notesSlide11.xml" Id="R263309b8371240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c0a2cc70443a8" /><Relationship Type="http://schemas.openxmlformats.org/officeDocument/2006/relationships/image" Target="/ppt/media/image6.jpeg" Id="R98e136ed9e4748cf" /><Relationship Type="http://schemas.openxmlformats.org/officeDocument/2006/relationships/image" Target="/ppt/media/image14.png" Id="R0546cdd40006485e" /><Relationship Type="http://schemas.openxmlformats.org/officeDocument/2006/relationships/notesSlide" Target="/ppt/notesSlides/notesSlide12.xml" Id="R81d3a88f79b34b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58dec0fe64819" /><Relationship Type="http://schemas.openxmlformats.org/officeDocument/2006/relationships/image" Target="/ppt/media/image15.png" Id="R906dfdbd5d4d4827" /><Relationship Type="http://schemas.openxmlformats.org/officeDocument/2006/relationships/image" Target="/ppt/media/image7.jpeg" Id="Rbb0ca042d05c4fba" /><Relationship Type="http://schemas.openxmlformats.org/officeDocument/2006/relationships/image" Target="/ppt/media/image8.jpeg" Id="R624d0d8bfe6049f5" /><Relationship Type="http://schemas.openxmlformats.org/officeDocument/2006/relationships/notesSlide" Target="/ppt/notesSlides/notesSlide13.xml" Id="Ra49601f1dbae42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3b91b636f45a9" /><Relationship Type="http://schemas.openxmlformats.org/officeDocument/2006/relationships/image" Target="/ppt/media/image16.png" Id="Rffcb0151c1034ef1" /><Relationship Type="http://schemas.openxmlformats.org/officeDocument/2006/relationships/notesSlide" Target="/ppt/notesSlides/notesSlide14.xml" Id="R2fa80204f98c4a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74d36a20a4c7c" /><Relationship Type="http://schemas.openxmlformats.org/officeDocument/2006/relationships/image" Target="/ppt/media/image17.png" Id="R63e8e997f13c461d" /><Relationship Type="http://schemas.openxmlformats.org/officeDocument/2006/relationships/notesSlide" Target="/ppt/notesSlides/notesSlide15.xml" Id="Rc44e72cc3b8443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2f3d04fd4893"/>
          <a:srcRect xmlns:a="http://schemas.openxmlformats.org/drawingml/2006/main" l="0" t="31286" r="0" b="31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84703-8BA5-4AB8-A003-B17D250D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92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66ff815994e6e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1CA78-4BBA-4E5F-9E40-7A7B8499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CREDENTIALS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C2357-8642-481A-94DD-783D8DC5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Human judgement</a:t>
            </a:r>
          </a:p>
          <a:p xmlns:a="http://schemas.openxmlformats.org/drawingml/2006/main">
            <a:pPr algn="l">
              <a:defRPr sz="52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2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for an AI-shaped world.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F6D0A-B264-42AA-AFFF-170CF192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STRATEGY · AI · LEADERSHIP · 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5A6C8-8235-484A-A539-32AF5ED7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From decision to implementation.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9D351-1D4F-497E-AB6A-A159CFB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1973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69fc51ea64c9e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D9EF5-6251-4EE4-92FD-D41C4161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POINT OF VIEW /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50329-95BA-4BA5-8AF8-A0100CA8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1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Intelligence</a:t>
            </a:r>
          </a:p>
          <a:p xmlns:a="http://schemas.openxmlformats.org/drawingml/2006/main">
            <a:pPr algn="l">
              <a:defRPr sz="51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1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is abundant.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5630E-2594-480C-A5C4-2FA4149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10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Judgement</a:t>
            </a:r>
          </a:p>
          <a:p xmlns:a="http://schemas.openxmlformats.org/drawingml/2006/main">
            <a:pPr algn="l">
              <a:defRPr sz="510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10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is human.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75A06-259F-4DBE-BABE-2B47966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AI helps us see more and test faster. Someone still has to choose what matters—and own the consequences.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C1B47-583A-4BF3-98BA-D13A344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52983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da3d98d884946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2B50A-939A-43BD-A5D2-744E0088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PROOF BEFORE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99FE4-F5D3-424C-B720-ED30CECF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1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1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Built in the real world.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6D46D-82ED-45D9-9EA1-EB1AD8BD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80+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7098E-335A-4BE9-868A-B97E55D7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PROJECTS DELIVERED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6EE93-72AB-4450-BAC9-EA4037F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2C999-2B8D-4104-9033-FF88C24D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50+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7938B-9C18-4964-A9A2-A7032B7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00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CORPORATE CLIENTS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C8BF1-2A45-4757-A30F-BC74A517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FD912-C3E9-494A-8432-D3DF6EA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30+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AA2CB-B004-4FF2-87F3-F4705A54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BRANDS MANAGED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FBEE8-19C7-426B-A73C-88B0866A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EE6E2-2C5D-4F45-B688-6CCFE09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9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C7CE2-64D2-4BC7-9B9D-9712A82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100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CONSECUTIVE YEARS ABOVE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83CA4-08A8-4DAE-82E5-FCB45D0D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684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ebc9358614344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0EEF7-A420-43CD-B2F3-B3BD8132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THE COMPANY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B58D3-F894-4BFE-92E3-AF5A74B8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71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Consulting-led.</a:t>
            </a:r>
          </a:p>
          <a:p xmlns:a="http://schemas.openxmlformats.org/drawingml/2006/main">
            <a:pPr algn="l">
              <a:def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Expert-backed.</a:t>
            </a:r>
          </a:p>
          <a:p xmlns:a="http://schemas.openxmlformats.org/drawingml/2006/main">
            <a:pPr algn="l">
              <a:def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425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Partner-enabled.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03ee0e2c04ced"/>
          <a:srcRect xmlns:a="http://schemas.openxmlformats.org/drawingml/2006/main" l="1406" t="0" r="1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762000"/>
            <a:ext cx="4000500" cy="5143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2DBB6-FE19-4FD0-8750-DC9DE173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Brand Here defines the problem, leads the strategic direction and assembles the specialist capabilities each assignment actually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82B30-2D7F-44DB-BE29-F25B8AE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0290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106c720284a83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DBC6-FF33-4033-98E4-69CC49B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FOUR WAYS TO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BCC0C-21EF-41FF-97CD-117DAFB2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Start with the decision.</a:t>
            </a:r>
          </a:p>
          <a:p xmlns:a="http://schemas.openxmlformats.org/drawingml/2006/main">
            <a:pPr algn="l">
              <a:def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Not the deliverable.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797CC-6921-4102-B79E-CD614B0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EDA7F-6663-4C89-B0D8-9ED768F0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45C59-6FF8-4EAB-8B57-E3242E1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99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STRATEGY CONSULTING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365E-5512-4E52-A0E4-D8A354B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Choose where to play—and what not to 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326A1-89D4-48E2-B6F1-310171D0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1F52-71F7-4932-8BAD-B1245D07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8534C-18B7-47A5-A028-03B17DF2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338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AI 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9261D-B83B-460D-954E-35791ADA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338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Turn experiments into useful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20503-9659-4208-9F35-69529817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15D7C-B56E-43CB-AC90-E03D92A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A5BB5-01FB-4F08-878C-A705C336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577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EXECUTIVE BRANDING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3ED92-DF24-4FD9-85A8-3110AA80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577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Build a leadership narrative people can trust.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60D8F-7A83-4E17-8D22-3F64A1C5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2FB4A-A743-4B63-A8F1-91976E7A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038F7-FF73-4CFD-A74C-4F5F128F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COMMERCE &amp; MARKET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75F0C-45E7-4BC6-AA8B-26965F9E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816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1200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Test the economics before scaling.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669B2-BBB7-46A0-94EF-BCE7899F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2024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89c1302e84e77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8999-BA55-48B5-B28D-315DEF1F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STRATEGY CONSULTING /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FB2A5-DD02-4D0A-8ED1-5124A666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Make the choice</a:t>
            </a:r>
          </a:p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coherent.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E4ECF-FCA0-4C70-9AF0-D3DD4B5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We clarify the market, the strategic edge and the decisions that must align before execution begins.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B3082-A811-4BD6-B77C-F90D7E34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1298B-0AF4-4C1D-B3BE-72D6EB86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TYPICAL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C3989-BFC9-435E-9B0B-C345C5D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B3698-4161-4FD5-B336-1BA79932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Positioning and strategic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B6D6D-9670-406F-8B10-03A3D89F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F7984-A5A6-4FE9-A1C4-1A864FC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Go-to-market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4E648-C8BB-4C69-8165-5351348D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C89FD-ABBA-4A39-B83F-708A3ED0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Decision 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D1D1C-C7B7-4067-95EA-6B2751E2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2228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b543912464a83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DFDE-C343-4D92-BE15-F740A01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AI TRANSFORMATION /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B6ABB-A091-4015-B4F8-5B31B4F9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Useful systems.</a:t>
            </a:r>
          </a:p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Human owners.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72461-8336-4888-9801-889FD96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We connect AI possibilities to a measurable business consequence, responsible data handling and an accountable operating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6EAC1-8593-48F8-A545-DE7BB087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88273-844B-4F03-ADE5-BD19379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TYPICAL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A8E95-13CA-45D0-8DC6-755C43EA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C0245-38FB-4381-BB1E-CD6C697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AI readiness and use-case priorities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F9B8B-C05B-44EE-BB95-20B830C6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8835A-2F0D-456E-9994-6A658A11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Decision-support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C62A3-EFC7-4D4A-BFDD-F315B0CB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14218-6B85-425F-A1BA-1EBF84E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Adoption roadmap and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73F92-2C23-431D-887A-263B096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2042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0e76e5f0149a8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A5F8F-D31D-48EB-9C9F-092C262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EXECUTIVE BRANDING /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F15E-F75F-4853-8E74-41CC6B90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Leadership made</a:t>
            </a:r>
          </a:p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credible.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113B3-0333-42B8-83E7-87DCA6ED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We turn expertise, point of view and public presence into a coherent leadership brand—not a manufactured persona.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3B127-23E3-4C54-B015-A2F5901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E639A-EF01-41EE-B73D-0C99D141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TYPICAL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2EDEA-9161-46EC-B73B-2D6BEBD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2E22B-96A0-48B3-980D-747B692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Leadership 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AEA4A-B88B-4F4A-AA0B-E4EAD8CD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9FB82-CE83-4FD9-B049-125DB00E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Narrative and content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AB2E-9A5D-4AC5-A5C0-1E5F451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40994-634A-4744-BEC6-99CAF27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Visibility and reputation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F4A50-C548-4802-BA5F-DD21EF9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0163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2088fd9894344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5858F-624C-4BED-9F20-091E0852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COMMERCE &amp; EXPANSION /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CF1C6-7A41-49E5-BD4C-66FFC4FD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Test before</a:t>
            </a:r>
          </a:p>
          <a:p xmlns:a="http://schemas.openxmlformats.org/drawingml/2006/main">
            <a:pPr algn="l">
              <a:def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you scale.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63B9C-E65D-4F1D-8EAD-527FA3A5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42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We connect channel choices, unit economics and operating reality before committing to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D461F-82AF-423E-A8CA-2F770B3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19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7DB55-2923-4A16-BC31-03C4733A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TYPICAL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513A8-ED5A-4C22-8646-9C262175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E204F-0010-453D-A7A9-26271A5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E-commerce strategy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A7320-4749-4804-867B-9FA2E6F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C8224-08F0-438B-ABB3-C26F44B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Channel and market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D71A6-2987-44EF-ACC9-55AC6D4A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8B279-75DB-4B9E-83F4-80BBECC2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575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Commercial operating 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C1FC8-6275-4C04-A3C5-B2E3D631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78242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97fcf5eb04666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1937A-5FC4-489D-B6B0-489182D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HOW WE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C7575-6CC0-4F27-83E4-F657066D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2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One direction.</a:t>
            </a:r>
          </a:p>
          <a:p xmlns:a="http://schemas.openxmlformats.org/drawingml/2006/main">
            <a:pPr algn="l">
              <a:defRPr sz="42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2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The right team.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48BCD-A10D-4044-AFB5-A2E30C7B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81375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3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DB37A-1E25-4AC6-B9D6-CA64DAB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6136D-396A-472E-877F-C172B454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BRAND HERE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384A2-C031-44E8-A2B9-9945FAD2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Strategic lead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88CE8-6527-4DD6-AADA-D8D9720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Problem definition · direction ·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7BCB6-99A8-4F6E-90E2-D139E363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CF1F3-D160-493D-B0C2-92318A5E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B1F5D-ABC4-4AD6-8D13-40C1D89D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EXPERTS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BEF5C-E6E6-4417-9D2C-21CF2C3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Decision depth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492DE-EC82-4D48-A20F-57EC022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0537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Governance · finance · technology · commerce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CBE45-54C8-4E55-84A5-C88CB060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81375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95057-F630-4B98-8283-C87FB7D2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825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46EB6-32BC-4C10-A5A1-259A5873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PARTNERS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ED89A-E6E7-4047-B289-E5A6D7E7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135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Delivery 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FA4BE-FEB8-4361-A619-31885A83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0537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AI · production · CGI/VFX · market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83F66-A74F-4FB2-B82C-5FBB064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781444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752d6cc1495b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FC31-863C-48CB-A396-6FB7EA61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EXPERT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B7B9-9DFD-40F6-BB38-C20C834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Experience has a face.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e12981b15437f"/>
          <a:srcRect xmlns:a="http://schemas.openxmlformats.org/drawingml/2006/main" l="14035" t="0" r="140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428875"/>
            <a:ext cx="1952625" cy="2714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2BDCE-C67F-45E4-B50B-E1AD67D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673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La Pham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93B14-76F6-4AFC-B0D6-C63F8009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TECHNOLOGY / SYSTEMS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04e8126254c17"/>
          <a:srcRect xmlns:a="http://schemas.openxmlformats.org/drawingml/2006/main" l="14035" t="0" r="140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62250" y="2428875"/>
            <a:ext cx="1952625" cy="2714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2A09A-86DE-4358-935F-3E45652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673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Khanh 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E905D-E00B-45A7-9838-D80C4F7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COMMERCE / GROWTH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5e8cba78a54057"/>
          <a:srcRect xmlns:a="http://schemas.openxmlformats.org/drawingml/2006/main" l="11265" t="0" r="11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2428875"/>
            <a:ext cx="1952625" cy="2714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C42BA-F17D-4B86-840F-4AD2FC4B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673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Vu Dinh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B5509-8D63-4DCE-8948-0B9BED68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GOVERNANCE / COMPLIANCE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6aaadbeb42e4"/>
          <a:srcRect xmlns:a="http://schemas.openxmlformats.org/drawingml/2006/main" l="2047" t="0" r="20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428875"/>
            <a:ext cx="1952625" cy="27146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0B9D9-A835-4715-B3DF-9E0C6717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673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Nam Tran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0A921-A71B-44FD-A548-900F1361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FINANCE / VALUE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c6103d42b4941"/>
          <a:srcRect xmlns:a="http://schemas.openxmlformats.org/drawingml/2006/main" l="29798" t="0" r="297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2428875"/>
            <a:ext cx="1952625" cy="2714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3B70A-DC63-4801-AC28-CC4C871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673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Dung Dinh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40679-7DD5-4C31-B4C9-65104C0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8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60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TECHNOLOGY / PLATFORMS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A0875-B248-455C-8B95-86E3EC4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41395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136ed9e4748cf"/>
          <a:srcRect xmlns:a="http://schemas.openxmlformats.org/drawingml/2006/main" l="20819" t="0" r="208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E1691-E366-4A65-8809-AFCB2F42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09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926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6cdd40006485e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F8CEB-CC73-4506-BCEC-2B0C0925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SELECTED WORK / AIA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AE79D-00AC-473C-9898-A66C9517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14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Six days.</a:t>
            </a:r>
          </a:p>
          <a:p xmlns:a="http://schemas.openxmlformats.org/drawingml/2006/main">
            <a:pPr algn="l">
              <a:def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Full press</a:t>
            </a:r>
          </a:p>
          <a:p xmlns:a="http://schemas.openxmlformats.org/drawingml/2006/main">
            <a:pPr algn="l">
              <a:def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72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attendance.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FCA67-A32D-4BC5-B19A-9FDD20F7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4350" b="0" i="0">
                <a:solidFill>
                  <a:srgbClr val="E03C31"/>
                </a:solidFill>
                <a:latin typeface="Cormorant Garamond"/>
                <a:ea typeface="Cormorant Garamond"/>
                <a:cs typeface="Cormorant Garamond"/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CAF8A-E068-4D72-9B9F-0E0003A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INVITED MEDIA ATTENDANCE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CBBF5-CCD0-4623-B3D8-D709499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2432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dfdbd5d4d4827"/>
          <a:stretch xmlns:a="http://schemas.openxmlformats.org/drawingml/2006/main"/>
        </p:blipFill>
        <p:spPr>
          <a:xfrm xmlns:a="http://schemas.openxmlformats.org/drawingml/2006/main">
            <a:off x="552450" y="26670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8A9A2-566F-4868-9A66-5B78A54D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SELECTED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84C87-FFA9-4CDD-8C8C-EF7C8A4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Real conditions.</a:t>
            </a:r>
          </a:p>
          <a:p xmlns:a="http://schemas.openxmlformats.org/drawingml/2006/main">
            <a:pPr algn="l">
              <a:def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00" b="0" i="0">
                <a:solidFill>
                  <a:srgbClr val="2D2926"/>
                </a:solidFill>
                <a:latin typeface="Cormorant Garamond"/>
                <a:ea typeface="Cormorant Garamond"/>
                <a:cs typeface="Cormorant Garamond"/>
              </a:rPr>
              <a:t>Visible outcomes.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ca042d05c4fba"/>
          <a:srcRect xmlns:a="http://schemas.openxmlformats.org/drawingml/2006/main" l="0" t="8358" r="0" b="8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3143250"/>
            <a:ext cx="4762500" cy="24765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d0d8bfe6049f5"/>
          <a:srcRect xmlns:a="http://schemas.openxmlformats.org/drawingml/2006/main" l="0" t="17011" r="0" b="170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3143250"/>
            <a:ext cx="561975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C518-D3C1-4D1C-A3D8-748DA70B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ROCHE  /  REAL EMPLOYEE VOICES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53215-05B1-4FC1-8046-4CCB905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72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DRAGON CAPITAL  /  A DECADE MADE TANGIBLE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04E6A-697B-45A8-BC44-982DEC19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70630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D2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b0151c1034ef1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6828B-1127-4FC8-98BC-15518DD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PARTNER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C7DAA-1CAB-41A0-A74C-59A3594F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Specialist delivery,</a:t>
            </a:r>
          </a:p>
          <a:p xmlns:a="http://schemas.openxmlformats.org/drawingml/2006/main">
            <a:pPr algn="l">
              <a:def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3975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without losing direction.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350A4-C3B0-4DC7-B835-FA5268DB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B8C1D-748F-4CAA-A8EC-1352B27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NYMPHEA AI AGENCY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9E917-0B23-4B1B-912F-595F6F41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AI agents · automation ·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9F17A-934B-45A1-B6D8-092F6997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27AC6-F368-4B16-9EC2-6837F728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052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POPCORN MEDIA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E951D-A8EF-407C-88DF-ECDD569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Full-service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BC3CD-6B28-4A4F-92B7-33F1633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291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C28B-80BB-422E-A132-902839EA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HYPER CRICKET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84CF-6BF7-4812-BC00-3A5B6D8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CGI · VFX · post-production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AC40-28F6-4FCF-9210-A3B11ADB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50539-C6E7-46E9-8D2F-D151AAC0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005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WANDERSTAR FILM.ART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D30C9-BC75-482B-AA78-99369809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72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750" b="0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Film · visual 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B57EB-65CB-44B5-9E49-A1F3E74F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1246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03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8e997f13c461d"/>
          <a:stretch xmlns:a="http://schemas.openxmlformats.org/drawingml/2006/main"/>
        </p:blipFill>
        <p:spPr>
          <a:xfrm xmlns:a="http://schemas.openxmlformats.org/drawingml/2006/main">
            <a:off x="552450" y="323850"/>
            <a:ext cx="1600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E22E8-307B-462F-A01B-29768655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E03C31"/>
                </a:solidFill>
                <a:latin typeface="Manrope"/>
                <a:ea typeface="Manrope"/>
                <a:cs typeface="Manrope"/>
              </a:rPr>
              <a:t>THE NEXT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8F3F4-E302-4FEB-B0DB-CFFD19E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40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Bring us one</a:t>
            </a:r>
          </a:p>
          <a:p xmlns:a="http://schemas.openxmlformats.org/drawingml/2006/main">
            <a:pPr algn="l">
              <a:defRPr sz="540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rPr sz="5400" b="0" i="0">
                <a:solidFill>
                  <a:srgbClr val="F3F0E8"/>
                </a:solidFill>
                <a:latin typeface="Cormorant Garamond"/>
                <a:ea typeface="Cormorant Garamond"/>
                <a:cs typeface="Cormorant Garamond"/>
              </a:rPr>
              <a:t>real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A95A1-ACA0-437E-8B97-21DDDC2D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Senior judgement. A direction you can act 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A48AD-A025-4B6C-86D6-4538B18E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1500" b="0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brandhere.co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5509-6D64-4683-9CCA-66A4CB7D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tuan.nguyen@brandhere.vn</a:t>
            </a:r>
          </a:p>
          <a:p xmlns:a="http://schemas.openxmlformats.org/drawingml/2006/main">
            <a:pPr algn="l">
              <a:defRPr sz="975" b="0" i="0">
                <a:solidFill>
                  <a:srgbClr val="2D2926"/>
                </a:solidFill>
                <a:latin typeface="Manrope"/>
                <a:ea typeface="Manrope"/>
                <a:cs typeface="Manrope"/>
              </a:defRPr>
            </a:pPr>
            <a:r>
              <a:rPr sz="975" b="0" i="0">
                <a:solidFill>
                  <a:srgbClr val="2D2926"/>
                </a:solidFill>
                <a:latin typeface="Manrope"/>
                <a:ea typeface="Manrope"/>
                <a:cs typeface="Manrope"/>
              </a:rPr>
              <a:t>+84 907 255 734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363A0-B27C-4F5A-8C84-DBC5E056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3F0E8"/>
                </a:solidFill>
                <a:latin typeface="Manrope"/>
                <a:ea typeface="Manrope"/>
                <a:cs typeface="Manrope"/>
              </a:defRPr>
            </a:pPr>
            <a:r>
              <a:rPr sz="825" b="1" i="0">
                <a:solidFill>
                  <a:srgbClr val="F3F0E8"/>
                </a:solidFill>
                <a:latin typeface="Manrope"/>
                <a:ea typeface="Manrope"/>
                <a:cs typeface="Manrope"/>
              </a:rPr>
              <a:t>INSIGHT TO IMPACT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97FF7-6E30-4BAE-82F8-DA56AC83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defRPr>
            </a:pPr>
            <a:r>
              <a:rPr sz="675" b="0" i="0">
                <a:solidFill>
                  <a:srgbClr val="8D8882"/>
                </a:solidFill>
                <a:latin typeface="Manrope"/>
                <a:ea typeface="Manrope"/>
                <a:cs typeface="Manrop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08169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2026-08-29T06:54:48.3150000Z</dcterms:created>
  <dcterms:modified xsi:type="dcterms:W3CDTF">2026-08-29T06:54:48.3150000Z</dcterms:modified>
</coreProperties>
</file>